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identity: a Java information retrieval system for an IIT document corpus. The core retrieval algorithms are implemented manually.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Problem: scattered IIT documents become hard to search manually as the corpus grows. The intended users are students, teachers, and academic or administrative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connected stages. The document pipeline creates a stored inverted and positional index. The query pipeline uses that index for matching, then applies TF-IDF ranking and returns Top-K results with snippets.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manual Java implementation. The index stores both document occurrences and term positions, enabling phrase queries. Query processing, TF-IDF and Top-K result selection remain in the approved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boxes show technical implementation order rather than a calendar. The final system indexes an IIT-focused corpus and returns ranked Top-K results and snippets. Evaluate indexing and query time, index size and corpus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prototype-search-ru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302021A-7192-48C4-99CB-951F8A5B0DC0}"/>
              </a:ext>
            </a:extLst>
          </p:cNvPr>
          <p:cNvSpPr>
            <a:spLocks noGrp="1"/>
          </p:cNvSpPr>
          <p:nvPr/>
        </p:nvSpPr>
        <p:spPr>
          <a:xfrm>
            <a:off x="561975" y="723900"/>
            <a:ext cx="57150" cy="4762500"/>
          </a:xfrm>
          <a:prstGeom prst="rect">
            <a:avLst/>
          </a:prstGeom>
          <a:solidFill>
            <a:srgbClr val="2C638C"/>
          </a:solidFill>
          <a:ln w="11430">
            <a:solidFill>
              <a:srgbClr val="2C638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E70DF3-4641-422D-BD06-7216C689567E}"/>
              </a:ext>
            </a:extLst>
          </p:cNvPr>
          <p:cNvSpPr>
            <a:spLocks noGrp="1"/>
          </p:cNvSpPr>
          <p:nvPr/>
        </p:nvSpPr>
        <p:spPr>
          <a:xfrm>
            <a:off x="904875" y="714375"/>
            <a:ext cx="723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IIT Search Engine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C3C7A2-87DB-4460-B891-05546FEB0E38}"/>
              </a:ext>
            </a:extLst>
          </p:cNvPr>
          <p:cNvSpPr>
            <a:spLocks noGrp="1"/>
          </p:cNvSpPr>
          <p:nvPr/>
        </p:nvSpPr>
        <p:spPr>
          <a:xfrm>
            <a:off x="914400" y="1419225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A Domain-Specific Information Retrieval System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A67246F-E737-4830-9EAC-FC0203A420F5}"/>
              </a:ext>
            </a:extLst>
          </p:cNvPr>
          <p:cNvSpPr>
            <a:spLocks noGrp="1"/>
          </p:cNvSpPr>
          <p:nvPr/>
        </p:nvSpPr>
        <p:spPr>
          <a:xfrm>
            <a:off x="904875" y="2124075"/>
            <a:ext cx="10429875" cy="0"/>
          </a:xfrm>
          <a:prstGeom prst="line">
            <a:avLst/>
          </a:prstGeom>
          <a:noFill/>
          <a:ln w="15240">
            <a:solidFill>
              <a:srgbClr val="AFC4D3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75B1D6-7434-484A-8B7F-25809800C965}"/>
              </a:ext>
            </a:extLst>
          </p:cNvPr>
          <p:cNvSpPr>
            <a:spLocks noGrp="1"/>
          </p:cNvSpPr>
          <p:nvPr/>
        </p:nvSpPr>
        <p:spPr>
          <a:xfrm>
            <a:off x="914400" y="24384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1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2B36"/>
                </a:solidFill>
                <a:latin typeface="Arial"/>
                <a:ea typeface="Arial"/>
                <a:cs typeface="Arial"/>
              </a:rPr>
              <a:t>Rifat Al Maruf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2EA679-0747-4A66-9B99-C932FD0F8392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3333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BSSE1705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47288C-A847-47BA-A8A1-AE72FF1F66DE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B36"/>
                </a:solidFill>
                <a:latin typeface="Arial"/>
                <a:ea typeface="Arial"/>
                <a:cs typeface="Arial"/>
              </a:rPr>
              <a:t>Institute of Information Technology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9D8550-578F-40FC-8D7C-9BF5E9D0464D}"/>
              </a:ext>
            </a:extLst>
          </p:cNvPr>
          <p:cNvSpPr>
            <a:spLocks noGrp="1"/>
          </p:cNvSpPr>
          <p:nvPr/>
        </p:nvSpPr>
        <p:spPr>
          <a:xfrm>
            <a:off x="914400" y="3838575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D2B36"/>
                </a:solidFill>
                <a:latin typeface="Arial"/>
                <a:ea typeface="Arial"/>
                <a:cs typeface="Arial"/>
              </a:rPr>
              <a:t>University of Dhaka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012A51-6989-4C35-8396-2E0324B28C45}"/>
              </a:ext>
            </a:extLst>
          </p:cNvPr>
          <p:cNvSpPr>
            <a:spLocks noGrp="1"/>
          </p:cNvSpPr>
          <p:nvPr/>
        </p:nvSpPr>
        <p:spPr>
          <a:xfrm>
            <a:off x="914400" y="4524375"/>
            <a:ext cx="504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SPL-1 Project Proposal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FCFA61-F518-4200-B9F7-46BD716F2A7D}"/>
              </a:ext>
            </a:extLst>
          </p:cNvPr>
          <p:cNvSpPr>
            <a:spLocks noGrp="1"/>
          </p:cNvSpPr>
          <p:nvPr/>
        </p:nvSpPr>
        <p:spPr>
          <a:xfrm>
            <a:off x="7972425" y="2905125"/>
            <a:ext cx="742950" cy="93345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ACA2407-2C28-4007-91E3-564543E6AC4C}"/>
              </a:ext>
            </a:extLst>
          </p:cNvPr>
          <p:cNvSpPr>
            <a:spLocks noGrp="1"/>
          </p:cNvSpPr>
          <p:nvPr/>
        </p:nvSpPr>
        <p:spPr>
          <a:xfrm>
            <a:off x="8086725" y="3019425"/>
            <a:ext cx="742950" cy="93345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6F91CC6-6617-44FD-A7EA-295E83994181}"/>
              </a:ext>
            </a:extLst>
          </p:cNvPr>
          <p:cNvSpPr>
            <a:spLocks noGrp="1"/>
          </p:cNvSpPr>
          <p:nvPr/>
        </p:nvSpPr>
        <p:spPr>
          <a:xfrm>
            <a:off x="8229600" y="3267075"/>
            <a:ext cx="466725" cy="0"/>
          </a:xfrm>
          <a:prstGeom prst="line">
            <a:avLst/>
          </a:prstGeom>
          <a:noFill/>
          <a:ln w="16193">
            <a:solidFill>
              <a:srgbClr val="AFC4D3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5D66C7AD-EC07-40E5-ADC1-297ED7A8B549}"/>
              </a:ext>
            </a:extLst>
          </p:cNvPr>
          <p:cNvSpPr>
            <a:spLocks noGrp="1"/>
          </p:cNvSpPr>
          <p:nvPr/>
        </p:nvSpPr>
        <p:spPr>
          <a:xfrm>
            <a:off x="8229600" y="3409950"/>
            <a:ext cx="466725" cy="0"/>
          </a:xfrm>
          <a:prstGeom prst="line">
            <a:avLst/>
          </a:prstGeom>
          <a:noFill/>
          <a:ln w="16193">
            <a:solidFill>
              <a:srgbClr val="AFC4D3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C03B5A4-7DA9-49AC-9CBB-533A4A98FC91}"/>
              </a:ext>
            </a:extLst>
          </p:cNvPr>
          <p:cNvSpPr>
            <a:spLocks noGrp="1"/>
          </p:cNvSpPr>
          <p:nvPr/>
        </p:nvSpPr>
        <p:spPr>
          <a:xfrm>
            <a:off x="8229600" y="3552825"/>
            <a:ext cx="466725" cy="0"/>
          </a:xfrm>
          <a:prstGeom prst="line">
            <a:avLst/>
          </a:prstGeom>
          <a:noFill/>
          <a:ln w="16193">
            <a:solidFill>
              <a:srgbClr val="AFC4D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F84D6F-7934-48AB-A250-7DFDCAA62381}"/>
              </a:ext>
            </a:extLst>
          </p:cNvPr>
          <p:cNvSpPr>
            <a:spLocks noGrp="1"/>
          </p:cNvSpPr>
          <p:nvPr/>
        </p:nvSpPr>
        <p:spPr>
          <a:xfrm>
            <a:off x="9001125" y="32004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AF63594-781B-4285-8E3F-820717F504DF}"/>
              </a:ext>
            </a:extLst>
          </p:cNvPr>
          <p:cNvSpPr>
            <a:spLocks noGrp="1"/>
          </p:cNvSpPr>
          <p:nvPr/>
        </p:nvSpPr>
        <p:spPr>
          <a:xfrm>
            <a:off x="9477375" y="3038475"/>
            <a:ext cx="933450" cy="704850"/>
          </a:xfrm>
          <a:prstGeom prst="roundRect">
            <a:avLst>
              <a:gd name="adj" fmla="val 12162"/>
            </a:avLst>
          </a:prstGeom>
          <a:solidFill>
            <a:srgbClr val="EDF5F8"/>
          </a:solidFill>
          <a:ln w="11430">
            <a:solidFill>
              <a:srgbClr val="B4D8E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86A1DB-C118-48D1-A354-FCA9BEBF4907}"/>
              </a:ext>
            </a:extLst>
          </p:cNvPr>
          <p:cNvSpPr>
            <a:spLocks noGrp="1"/>
          </p:cNvSpPr>
          <p:nvPr/>
        </p:nvSpPr>
        <p:spPr>
          <a:xfrm>
            <a:off x="9686925" y="3048000"/>
            <a:ext cx="47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3900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⌕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E91932-6B26-4189-81D4-7F7B4968BF7F}"/>
              </a:ext>
            </a:extLst>
          </p:cNvPr>
          <p:cNvSpPr>
            <a:spLocks noGrp="1"/>
          </p:cNvSpPr>
          <p:nvPr/>
        </p:nvSpPr>
        <p:spPr>
          <a:xfrm>
            <a:off x="10448925" y="32004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CD37FA-4E17-4C2D-9264-F97DBA4C93F4}"/>
              </a:ext>
            </a:extLst>
          </p:cNvPr>
          <p:cNvSpPr>
            <a:spLocks noGrp="1"/>
          </p:cNvSpPr>
          <p:nvPr/>
        </p:nvSpPr>
        <p:spPr>
          <a:xfrm>
            <a:off x="10934700" y="3038475"/>
            <a:ext cx="904875" cy="704850"/>
          </a:xfrm>
          <a:prstGeom prst="roundRect">
            <a:avLst>
              <a:gd name="adj" fmla="val 12162"/>
            </a:avLst>
          </a:prstGeom>
          <a:solidFill>
            <a:srgbClr val="EDF5F8"/>
          </a:solidFill>
          <a:ln w="11430">
            <a:solidFill>
              <a:srgbClr val="B4D8E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873469-2FB1-443C-92E8-AD200BD00B8F}"/>
              </a:ext>
            </a:extLst>
          </p:cNvPr>
          <p:cNvSpPr>
            <a:spLocks noGrp="1"/>
          </p:cNvSpPr>
          <p:nvPr/>
        </p:nvSpPr>
        <p:spPr>
          <a:xfrm>
            <a:off x="11049000" y="311467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D6ABDD57-977C-4CA8-B03C-AF8F73274121}"/>
              </a:ext>
            </a:extLst>
          </p:cNvPr>
          <p:cNvSpPr>
            <a:spLocks noGrp="1"/>
          </p:cNvSpPr>
          <p:nvPr/>
        </p:nvSpPr>
        <p:spPr>
          <a:xfrm>
            <a:off x="11353800" y="3267075"/>
            <a:ext cx="342900" cy="0"/>
          </a:xfrm>
          <a:prstGeom prst="line">
            <a:avLst/>
          </a:prstGeom>
          <a:noFill/>
          <a:ln w="19050">
            <a:solidFill>
              <a:srgbClr val="AFC4D3"/>
            </a:solidFill>
            <a:prstDash val="solid"/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E9B9AB62-C75E-433A-9525-BB67C99C3F06}"/>
              </a:ext>
            </a:extLst>
          </p:cNvPr>
          <p:cNvSpPr>
            <a:spLocks noGrp="1"/>
          </p:cNvSpPr>
          <p:nvPr/>
        </p:nvSpPr>
        <p:spPr>
          <a:xfrm>
            <a:off x="11353800" y="3429000"/>
            <a:ext cx="342900" cy="0"/>
          </a:xfrm>
          <a:prstGeom prst="line">
            <a:avLst/>
          </a:prstGeom>
          <a:noFill/>
          <a:ln w="19050">
            <a:solidFill>
              <a:srgbClr val="AFC4D3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E44C86-7373-4A79-9A41-D70030F721DA}"/>
              </a:ext>
            </a:extLst>
          </p:cNvPr>
          <p:cNvSpPr>
            <a:spLocks noGrp="1"/>
          </p:cNvSpPr>
          <p:nvPr/>
        </p:nvSpPr>
        <p:spPr>
          <a:xfrm>
            <a:off x="484632" y="5362574"/>
            <a:ext cx="11354943" cy="11022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42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700" b="0" dirty="0">
                <a:solidFill>
                  <a:srgbClr val="526373"/>
                </a:solidFill>
                <a:latin typeface="Arial"/>
                <a:ea typeface="Arial"/>
                <a:cs typeface="Arial"/>
              </a:rPr>
              <a:t>A Java-based search engine for indexing, searching and ranking information from an IIT-focused document collection.</a:t>
            </a:r>
          </a:p>
        </p:txBody>
      </p:sp>
    </p:spTree>
    <p:extLst>
      <p:ext uri="{BB962C8B-B14F-4D97-AF65-F5344CB8AC3E}">
        <p14:creationId xmlns:p14="http://schemas.microsoft.com/office/powerpoint/2010/main" val="189319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5CEE887-9A00-471C-8774-3BA6BE087781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10668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Problem &amp; Motivation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410BD0B-1FE4-470D-B96A-EA5B7653051E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noFill/>
          <a:ln w="19050">
            <a:solidFill>
              <a:srgbClr val="2C638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C1D27A-6A5F-455F-A79C-1EF848F3D0EE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47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050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138A7E-4FEE-47B8-B456-B3A03DEC52B5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1104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D2B36"/>
                </a:solidFill>
                <a:latin typeface="Arial"/>
                <a:ea typeface="Arial"/>
                <a:cs typeface="Arial"/>
              </a:rPr>
              <a:t>IIT information can be spread across PDFs, notices, academic documents and other files.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D13500-5637-41DC-9631-A77ACEE83208}"/>
              </a:ext>
            </a:extLst>
          </p:cNvPr>
          <p:cNvSpPr>
            <a:spLocks noGrp="1"/>
          </p:cNvSpPr>
          <p:nvPr/>
        </p:nvSpPr>
        <p:spPr>
          <a:xfrm>
            <a:off x="552450" y="2200275"/>
            <a:ext cx="3314700" cy="1590675"/>
          </a:xfrm>
          <a:prstGeom prst="roundRect">
            <a:avLst>
              <a:gd name="adj" fmla="val 5389"/>
            </a:avLst>
          </a:prstGeom>
          <a:solidFill>
            <a:srgbClr val="EDF5F8"/>
          </a:solidFill>
          <a:ln w="11430">
            <a:solidFill>
              <a:srgbClr val="C8E0E9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89F73D-9235-46C6-BE4F-71D71C28DA66}"/>
              </a:ext>
            </a:extLst>
          </p:cNvPr>
          <p:cNvSpPr>
            <a:spLocks noGrp="1"/>
          </p:cNvSpPr>
          <p:nvPr/>
        </p:nvSpPr>
        <p:spPr>
          <a:xfrm>
            <a:off x="723900" y="2333625"/>
            <a:ext cx="29718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Scattered documents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924834-39A0-41DF-AFE0-F7FD078A8E40}"/>
              </a:ext>
            </a:extLst>
          </p:cNvPr>
          <p:cNvSpPr>
            <a:spLocks noGrp="1"/>
          </p:cNvSpPr>
          <p:nvPr/>
        </p:nvSpPr>
        <p:spPr>
          <a:xfrm>
            <a:off x="723900" y="2676525"/>
            <a:ext cx="29718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The collection grows across files and folders.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CE519A-7CE5-4C5F-A1CC-C617B1B2E7FB}"/>
              </a:ext>
            </a:extLst>
          </p:cNvPr>
          <p:cNvSpPr>
            <a:spLocks noGrp="1"/>
          </p:cNvSpPr>
          <p:nvPr/>
        </p:nvSpPr>
        <p:spPr>
          <a:xfrm>
            <a:off x="4429125" y="2200275"/>
            <a:ext cx="3314700" cy="1590675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41D566-A921-4080-B69D-31E338FCBF1C}"/>
              </a:ext>
            </a:extLst>
          </p:cNvPr>
          <p:cNvSpPr>
            <a:spLocks noGrp="1"/>
          </p:cNvSpPr>
          <p:nvPr/>
        </p:nvSpPr>
        <p:spPr>
          <a:xfrm>
            <a:off x="4600575" y="2333625"/>
            <a:ext cx="29718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Manual lookup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6ED335-8B7B-4C07-AE3C-F959EF0539E2}"/>
              </a:ext>
            </a:extLst>
          </p:cNvPr>
          <p:cNvSpPr>
            <a:spLocks noGrp="1"/>
          </p:cNvSpPr>
          <p:nvPr/>
        </p:nvSpPr>
        <p:spPr>
          <a:xfrm>
            <a:off x="4600575" y="2676525"/>
            <a:ext cx="29718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Browsing folders and opening files takes time.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F8C9E0A-D4F9-4131-96CF-258DD8EBAEFA}"/>
              </a:ext>
            </a:extLst>
          </p:cNvPr>
          <p:cNvSpPr>
            <a:spLocks noGrp="1"/>
          </p:cNvSpPr>
          <p:nvPr/>
        </p:nvSpPr>
        <p:spPr>
          <a:xfrm>
            <a:off x="8305800" y="2200275"/>
            <a:ext cx="3314700" cy="1590675"/>
          </a:xfrm>
          <a:prstGeom prst="roundRect">
            <a:avLst>
              <a:gd name="adj" fmla="val 5389"/>
            </a:avLst>
          </a:prstGeom>
          <a:solidFill>
            <a:srgbClr val="EDF5F8"/>
          </a:solidFill>
          <a:ln w="11430">
            <a:solidFill>
              <a:srgbClr val="C8E0E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FCE293-20A6-480D-88CD-C79E2B94352E}"/>
              </a:ext>
            </a:extLst>
          </p:cNvPr>
          <p:cNvSpPr>
            <a:spLocks noGrp="1"/>
          </p:cNvSpPr>
          <p:nvPr/>
        </p:nvSpPr>
        <p:spPr>
          <a:xfrm>
            <a:off x="8477250" y="2333625"/>
            <a:ext cx="29718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Focused retrieval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87973D-0785-49CE-8D8C-E086088F86EE}"/>
              </a:ext>
            </a:extLst>
          </p:cNvPr>
          <p:cNvSpPr>
            <a:spLocks noGrp="1"/>
          </p:cNvSpPr>
          <p:nvPr/>
        </p:nvSpPr>
        <p:spPr>
          <a:xfrm>
            <a:off x="8477250" y="2676525"/>
            <a:ext cx="29718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A query should return the relevant documents.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DF62E1-C972-421E-A023-A8BBCD0563E7}"/>
              </a:ext>
            </a:extLst>
          </p:cNvPr>
          <p:cNvSpPr>
            <a:spLocks noGrp="1"/>
          </p:cNvSpPr>
          <p:nvPr/>
        </p:nvSpPr>
        <p:spPr>
          <a:xfrm>
            <a:off x="3962400" y="2781300"/>
            <a:ext cx="3714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5B4BA0-375B-4E2D-B415-5C69C6F8A9F4}"/>
              </a:ext>
            </a:extLst>
          </p:cNvPr>
          <p:cNvSpPr>
            <a:spLocks noGrp="1"/>
          </p:cNvSpPr>
          <p:nvPr/>
        </p:nvSpPr>
        <p:spPr>
          <a:xfrm>
            <a:off x="7839075" y="2781300"/>
            <a:ext cx="3714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F060D0-1054-4B0E-B5E0-D8D601AF49D9}"/>
              </a:ext>
            </a:extLst>
          </p:cNvPr>
          <p:cNvSpPr>
            <a:spLocks noGrp="1"/>
          </p:cNvSpPr>
          <p:nvPr/>
        </p:nvSpPr>
        <p:spPr>
          <a:xfrm>
            <a:off x="552450" y="4076700"/>
            <a:ext cx="11068050" cy="638175"/>
          </a:xfrm>
          <a:prstGeom prst="roundRect">
            <a:avLst>
              <a:gd name="adj" fmla="val 11940"/>
            </a:avLst>
          </a:prstGeom>
          <a:solidFill>
            <a:srgbClr val="EDF5F8"/>
          </a:solidFill>
          <a:ln w="11430">
            <a:solidFill>
              <a:srgbClr val="B4D8E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7D1D48-4EB4-4BA0-988F-C88785E84007}"/>
              </a:ext>
            </a:extLst>
          </p:cNvPr>
          <p:cNvSpPr>
            <a:spLocks noGrp="1"/>
          </p:cNvSpPr>
          <p:nvPr/>
        </p:nvSpPr>
        <p:spPr>
          <a:xfrm>
            <a:off x="742950" y="4191000"/>
            <a:ext cx="10668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Need: fast and focused retrieval from an IIT-specific document collection.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E43AA0-F752-4392-99EA-1F87CF1DDEF5}"/>
              </a:ext>
            </a:extLst>
          </p:cNvPr>
          <p:cNvSpPr>
            <a:spLocks noGrp="1"/>
          </p:cNvSpPr>
          <p:nvPr/>
        </p:nvSpPr>
        <p:spPr>
          <a:xfrm>
            <a:off x="552450" y="5038725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Target users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4A4A88A-163A-4508-96B1-FBD266D83969}"/>
              </a:ext>
            </a:extLst>
          </p:cNvPr>
          <p:cNvSpPr>
            <a:spLocks noGrp="1"/>
          </p:cNvSpPr>
          <p:nvPr/>
        </p:nvSpPr>
        <p:spPr>
          <a:xfrm>
            <a:off x="552450" y="5476875"/>
            <a:ext cx="2143125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97A515-B6A2-4EDE-8EE3-49353D0BF895}"/>
              </a:ext>
            </a:extLst>
          </p:cNvPr>
          <p:cNvSpPr>
            <a:spLocks noGrp="1"/>
          </p:cNvSpPr>
          <p:nvPr/>
        </p:nvSpPr>
        <p:spPr>
          <a:xfrm>
            <a:off x="695325" y="5562600"/>
            <a:ext cx="1857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36"/>
                </a:solidFill>
                <a:latin typeface="Arial"/>
                <a:ea typeface="Arial"/>
                <a:cs typeface="Arial"/>
              </a:rPr>
              <a:t>IIT students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171CEBF-B124-4DA7-A580-AAFC7A62AEDD}"/>
              </a:ext>
            </a:extLst>
          </p:cNvPr>
          <p:cNvSpPr>
            <a:spLocks noGrp="1"/>
          </p:cNvSpPr>
          <p:nvPr/>
        </p:nvSpPr>
        <p:spPr>
          <a:xfrm>
            <a:off x="3476625" y="5476875"/>
            <a:ext cx="2143125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7FA04D-F621-47D0-9B96-9D22DC1AF75B}"/>
              </a:ext>
            </a:extLst>
          </p:cNvPr>
          <p:cNvSpPr>
            <a:spLocks noGrp="1"/>
          </p:cNvSpPr>
          <p:nvPr/>
        </p:nvSpPr>
        <p:spPr>
          <a:xfrm>
            <a:off x="3619500" y="5562600"/>
            <a:ext cx="1857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36"/>
                </a:solidFill>
                <a:latin typeface="Arial"/>
                <a:ea typeface="Arial"/>
                <a:cs typeface="Arial"/>
              </a:rPr>
              <a:t>Teachers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81A890D-FA19-42AC-904D-B8D0F5CB326F}"/>
              </a:ext>
            </a:extLst>
          </p:cNvPr>
          <p:cNvSpPr>
            <a:spLocks noGrp="1"/>
          </p:cNvSpPr>
          <p:nvPr/>
        </p:nvSpPr>
        <p:spPr>
          <a:xfrm>
            <a:off x="6400800" y="5476875"/>
            <a:ext cx="521970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242316-4905-46E6-9EC0-E70E6976C577}"/>
              </a:ext>
            </a:extLst>
          </p:cNvPr>
          <p:cNvSpPr>
            <a:spLocks noGrp="1"/>
          </p:cNvSpPr>
          <p:nvPr/>
        </p:nvSpPr>
        <p:spPr>
          <a:xfrm>
            <a:off x="6543675" y="5562600"/>
            <a:ext cx="4933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36"/>
                </a:solidFill>
                <a:latin typeface="Arial"/>
                <a:ea typeface="Arial"/>
                <a:cs typeface="Arial"/>
              </a:rPr>
              <a:t>Academic / administrative users</a:t>
            </a:r>
          </a:p>
        </p:txBody>
      </p:sp>
    </p:spTree>
    <p:extLst>
      <p:ext uri="{BB962C8B-B14F-4D97-AF65-F5344CB8AC3E}">
        <p14:creationId xmlns:p14="http://schemas.microsoft.com/office/powerpoint/2010/main" val="1044446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42E850C-B3C6-4805-95A5-A0BEDE613E80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10668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How the Search Engine Works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CEDED3A-C516-4CB8-969F-950291B41AD4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noFill/>
          <a:ln w="19050">
            <a:solidFill>
              <a:srgbClr val="2C638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C55C43-8C2F-4D98-8F2A-073F23082D88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47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050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CBAC5-9523-4FFD-93D9-55ABCF8A2E4A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INDEX THE COLLECTION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2213E7-16D8-4A7E-AD41-005445E6DFC2}"/>
              </a:ext>
            </a:extLst>
          </p:cNvPr>
          <p:cNvSpPr>
            <a:spLocks noGrp="1"/>
          </p:cNvSpPr>
          <p:nvPr/>
        </p:nvSpPr>
        <p:spPr>
          <a:xfrm>
            <a:off x="552450" y="1724025"/>
            <a:ext cx="2609850" cy="1076325"/>
          </a:xfrm>
          <a:prstGeom prst="roundRect">
            <a:avLst>
              <a:gd name="adj" fmla="val 7965"/>
            </a:avLst>
          </a:prstGeom>
          <a:solidFill>
            <a:srgbClr val="EDF5F8"/>
          </a:solidFill>
          <a:ln w="11430">
            <a:solidFill>
              <a:srgbClr val="C8E0E9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883774-0D5F-4CD6-9E50-3AE15752983F}"/>
              </a:ext>
            </a:extLst>
          </p:cNvPr>
          <p:cNvSpPr>
            <a:spLocks noGrp="1"/>
          </p:cNvSpPr>
          <p:nvPr/>
        </p:nvSpPr>
        <p:spPr>
          <a:xfrm>
            <a:off x="723900" y="1857375"/>
            <a:ext cx="22669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IIT documents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B1B62B-CA6D-49C7-834F-DE3B2F111F99}"/>
              </a:ext>
            </a:extLst>
          </p:cNvPr>
          <p:cNvSpPr>
            <a:spLocks noGrp="1"/>
          </p:cNvSpPr>
          <p:nvPr/>
        </p:nvSpPr>
        <p:spPr>
          <a:xfrm>
            <a:off x="723900" y="2200275"/>
            <a:ext cx="2266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PDFs, notices and academic files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630FD8-6B52-43AF-9246-D2BB9ED9BA25}"/>
              </a:ext>
            </a:extLst>
          </p:cNvPr>
          <p:cNvSpPr>
            <a:spLocks noGrp="1"/>
          </p:cNvSpPr>
          <p:nvPr/>
        </p:nvSpPr>
        <p:spPr>
          <a:xfrm>
            <a:off x="3371850" y="1724025"/>
            <a:ext cx="2609850" cy="1076325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1E857F-7047-478B-A3EC-6B5F2F2CBD35}"/>
              </a:ext>
            </a:extLst>
          </p:cNvPr>
          <p:cNvSpPr>
            <a:spLocks noGrp="1"/>
          </p:cNvSpPr>
          <p:nvPr/>
        </p:nvSpPr>
        <p:spPr>
          <a:xfrm>
            <a:off x="3543300" y="1857375"/>
            <a:ext cx="22669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Text extraction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AA1EB3-9515-4F4B-9DC4-99A5F9282DCE}"/>
              </a:ext>
            </a:extLst>
          </p:cNvPr>
          <p:cNvSpPr>
            <a:spLocks noGrp="1"/>
          </p:cNvSpPr>
          <p:nvPr/>
        </p:nvSpPr>
        <p:spPr>
          <a:xfrm>
            <a:off x="3543300" y="2200275"/>
            <a:ext cx="2266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Read usable text from each file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953E9B-F6E3-4054-9BD0-60C072B868DA}"/>
              </a:ext>
            </a:extLst>
          </p:cNvPr>
          <p:cNvSpPr>
            <a:spLocks noGrp="1"/>
          </p:cNvSpPr>
          <p:nvPr/>
        </p:nvSpPr>
        <p:spPr>
          <a:xfrm>
            <a:off x="6191250" y="1724025"/>
            <a:ext cx="2609850" cy="1076325"/>
          </a:xfrm>
          <a:prstGeom prst="roundRect">
            <a:avLst>
              <a:gd name="adj" fmla="val 7965"/>
            </a:avLst>
          </a:prstGeom>
          <a:solidFill>
            <a:srgbClr val="EDF5F8"/>
          </a:solidFill>
          <a:ln w="11430">
            <a:solidFill>
              <a:srgbClr val="C8E0E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7D85CC-5987-4B5D-9338-8E43CE903B7C}"/>
              </a:ext>
            </a:extLst>
          </p:cNvPr>
          <p:cNvSpPr>
            <a:spLocks noGrp="1"/>
          </p:cNvSpPr>
          <p:nvPr/>
        </p:nvSpPr>
        <p:spPr>
          <a:xfrm>
            <a:off x="6362700" y="1857375"/>
            <a:ext cx="22669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Text preprocessing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CE00C1-65EE-4A64-B173-9422189711A8}"/>
              </a:ext>
            </a:extLst>
          </p:cNvPr>
          <p:cNvSpPr>
            <a:spLocks noGrp="1"/>
          </p:cNvSpPr>
          <p:nvPr/>
        </p:nvSpPr>
        <p:spPr>
          <a:xfrm>
            <a:off x="6362700" y="2200275"/>
            <a:ext cx="2266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Tokenize, normalize and filter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02A5D23-E92C-481A-BFD9-5DCBCCC737BE}"/>
              </a:ext>
            </a:extLst>
          </p:cNvPr>
          <p:cNvSpPr>
            <a:spLocks noGrp="1"/>
          </p:cNvSpPr>
          <p:nvPr/>
        </p:nvSpPr>
        <p:spPr>
          <a:xfrm>
            <a:off x="9010650" y="1724025"/>
            <a:ext cx="2609850" cy="1076325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6AD735-8F2E-4B7E-AE02-8DAF47BC7B56}"/>
              </a:ext>
            </a:extLst>
          </p:cNvPr>
          <p:cNvSpPr>
            <a:spLocks noGrp="1"/>
          </p:cNvSpPr>
          <p:nvPr/>
        </p:nvSpPr>
        <p:spPr>
          <a:xfrm>
            <a:off x="9182100" y="1857375"/>
            <a:ext cx="22669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Inverted / positional index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813D76-340A-4BD0-B36D-C56293AE1DD3}"/>
              </a:ext>
            </a:extLst>
          </p:cNvPr>
          <p:cNvSpPr>
            <a:spLocks noGrp="1"/>
          </p:cNvSpPr>
          <p:nvPr/>
        </p:nvSpPr>
        <p:spPr>
          <a:xfrm>
            <a:off x="9182100" y="2200275"/>
            <a:ext cx="2266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Term → document occurrence + position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BA7AF2-2480-4E7C-B1D6-03551E7E05FE}"/>
              </a:ext>
            </a:extLst>
          </p:cNvPr>
          <p:cNvSpPr>
            <a:spLocks noGrp="1"/>
          </p:cNvSpPr>
          <p:nvPr/>
        </p:nvSpPr>
        <p:spPr>
          <a:xfrm>
            <a:off x="3190875" y="2038350"/>
            <a:ext cx="171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25C387-962F-453E-A773-C83637806E00}"/>
              </a:ext>
            </a:extLst>
          </p:cNvPr>
          <p:cNvSpPr>
            <a:spLocks noGrp="1"/>
          </p:cNvSpPr>
          <p:nvPr/>
        </p:nvSpPr>
        <p:spPr>
          <a:xfrm>
            <a:off x="6010275" y="2038350"/>
            <a:ext cx="171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47B658-D3E8-4A89-9787-0F21BF478C2D}"/>
              </a:ext>
            </a:extLst>
          </p:cNvPr>
          <p:cNvSpPr>
            <a:spLocks noGrp="1"/>
          </p:cNvSpPr>
          <p:nvPr/>
        </p:nvSpPr>
        <p:spPr>
          <a:xfrm>
            <a:off x="8829675" y="2038350"/>
            <a:ext cx="171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8B2140-3B60-432E-9A13-02A00FF55231}"/>
              </a:ext>
            </a:extLst>
          </p:cNvPr>
          <p:cNvSpPr>
            <a:spLocks noGrp="1"/>
          </p:cNvSpPr>
          <p:nvPr/>
        </p:nvSpPr>
        <p:spPr>
          <a:xfrm>
            <a:off x="552450" y="3771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SEARCH THE INDEX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29F24DE-F177-481E-B698-215D02511B6C}"/>
              </a:ext>
            </a:extLst>
          </p:cNvPr>
          <p:cNvSpPr>
            <a:spLocks noGrp="1"/>
          </p:cNvSpPr>
          <p:nvPr/>
        </p:nvSpPr>
        <p:spPr>
          <a:xfrm>
            <a:off x="9010650" y="4171950"/>
            <a:ext cx="2609850" cy="1076325"/>
          </a:xfrm>
          <a:prstGeom prst="roundRect">
            <a:avLst>
              <a:gd name="adj" fmla="val 7965"/>
            </a:avLst>
          </a:prstGeom>
          <a:solidFill>
            <a:srgbClr val="EDF5F8"/>
          </a:solidFill>
          <a:ln w="11430">
            <a:solidFill>
              <a:srgbClr val="C8E0E9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2C7B54-AEF6-4C84-A329-7C6A86083465}"/>
              </a:ext>
            </a:extLst>
          </p:cNvPr>
          <p:cNvSpPr>
            <a:spLocks noGrp="1"/>
          </p:cNvSpPr>
          <p:nvPr/>
        </p:nvSpPr>
        <p:spPr>
          <a:xfrm>
            <a:off x="9182100" y="4305300"/>
            <a:ext cx="22669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User query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1A2AF0-9579-417C-809F-F59AB88BEA92}"/>
              </a:ext>
            </a:extLst>
          </p:cNvPr>
          <p:cNvSpPr>
            <a:spLocks noGrp="1"/>
          </p:cNvSpPr>
          <p:nvPr/>
        </p:nvSpPr>
        <p:spPr>
          <a:xfrm>
            <a:off x="9182100" y="4648200"/>
            <a:ext cx="2266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Keywords or a multi-word phrase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741B927-128B-42DE-8A64-89D118E23F43}"/>
              </a:ext>
            </a:extLst>
          </p:cNvPr>
          <p:cNvSpPr>
            <a:spLocks noGrp="1"/>
          </p:cNvSpPr>
          <p:nvPr/>
        </p:nvSpPr>
        <p:spPr>
          <a:xfrm>
            <a:off x="6191250" y="4171950"/>
            <a:ext cx="2609850" cy="1076325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43F254-B117-4B65-820B-814ABF6A2DEF}"/>
              </a:ext>
            </a:extLst>
          </p:cNvPr>
          <p:cNvSpPr>
            <a:spLocks noGrp="1"/>
          </p:cNvSpPr>
          <p:nvPr/>
        </p:nvSpPr>
        <p:spPr>
          <a:xfrm>
            <a:off x="6362700" y="4305300"/>
            <a:ext cx="22669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Process &amp; match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6E40F1-34D0-4E24-8217-D5A104D67CA3}"/>
              </a:ext>
            </a:extLst>
          </p:cNvPr>
          <p:cNvSpPr>
            <a:spLocks noGrp="1"/>
          </p:cNvSpPr>
          <p:nvPr/>
        </p:nvSpPr>
        <p:spPr>
          <a:xfrm>
            <a:off x="6362700" y="4648200"/>
            <a:ext cx="2266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Keyword, phrase or logical query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D784474-E074-4B35-84C9-BD2729340299}"/>
              </a:ext>
            </a:extLst>
          </p:cNvPr>
          <p:cNvSpPr>
            <a:spLocks noGrp="1"/>
          </p:cNvSpPr>
          <p:nvPr/>
        </p:nvSpPr>
        <p:spPr>
          <a:xfrm>
            <a:off x="3371850" y="4171950"/>
            <a:ext cx="2609850" cy="1076325"/>
          </a:xfrm>
          <a:prstGeom prst="roundRect">
            <a:avLst>
              <a:gd name="adj" fmla="val 7965"/>
            </a:avLst>
          </a:prstGeom>
          <a:solidFill>
            <a:srgbClr val="EDF5F8"/>
          </a:solidFill>
          <a:ln w="11430">
            <a:solidFill>
              <a:srgbClr val="C8E0E9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DE6DCB-08D1-4D20-9B62-2920DE2DCD1E}"/>
              </a:ext>
            </a:extLst>
          </p:cNvPr>
          <p:cNvSpPr>
            <a:spLocks noGrp="1"/>
          </p:cNvSpPr>
          <p:nvPr/>
        </p:nvSpPr>
        <p:spPr>
          <a:xfrm>
            <a:off x="3543300" y="4305300"/>
            <a:ext cx="22669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TF-IDF ranking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89D228-F61C-4B5E-A531-3BEB5D21FED6}"/>
              </a:ext>
            </a:extLst>
          </p:cNvPr>
          <p:cNvSpPr>
            <a:spLocks noGrp="1"/>
          </p:cNvSpPr>
          <p:nvPr/>
        </p:nvSpPr>
        <p:spPr>
          <a:xfrm>
            <a:off x="3543300" y="4648200"/>
            <a:ext cx="2266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26373"/>
                </a:solidFill>
                <a:latin typeface="Arial"/>
                <a:ea typeface="Arial"/>
                <a:cs typeface="Arial"/>
              </a:rPr>
              <a:t>Score and order matched documents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40C268B-6001-4EB5-B8EE-501614AE580D}"/>
              </a:ext>
            </a:extLst>
          </p:cNvPr>
          <p:cNvSpPr>
            <a:spLocks noGrp="1"/>
          </p:cNvSpPr>
          <p:nvPr/>
        </p:nvSpPr>
        <p:spPr>
          <a:xfrm>
            <a:off x="552450" y="4171950"/>
            <a:ext cx="2609850" cy="1076325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014946-6CEE-471F-84F8-0CA2B3829902}"/>
              </a:ext>
            </a:extLst>
          </p:cNvPr>
          <p:cNvSpPr>
            <a:spLocks noGrp="1"/>
          </p:cNvSpPr>
          <p:nvPr/>
        </p:nvSpPr>
        <p:spPr>
          <a:xfrm>
            <a:off x="723900" y="4305300"/>
            <a:ext cx="22669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Top-K results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276693-7E55-4388-8C1B-CC0F686EB49D}"/>
              </a:ext>
            </a:extLst>
          </p:cNvPr>
          <p:cNvSpPr>
            <a:spLocks noGrp="1"/>
          </p:cNvSpPr>
          <p:nvPr/>
        </p:nvSpPr>
        <p:spPr>
          <a:xfrm>
            <a:off x="723900" y="4648200"/>
            <a:ext cx="2266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Ranked documents with snippets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EB8F7B-0D94-47BA-9FA4-D8B061051E51}"/>
              </a:ext>
            </a:extLst>
          </p:cNvPr>
          <p:cNvSpPr>
            <a:spLocks noGrp="1"/>
          </p:cNvSpPr>
          <p:nvPr/>
        </p:nvSpPr>
        <p:spPr>
          <a:xfrm>
            <a:off x="8782050" y="4467225"/>
            <a:ext cx="200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C20ACF-3E88-41E3-98C9-B73169D665DE}"/>
              </a:ext>
            </a:extLst>
          </p:cNvPr>
          <p:cNvSpPr>
            <a:spLocks noGrp="1"/>
          </p:cNvSpPr>
          <p:nvPr/>
        </p:nvSpPr>
        <p:spPr>
          <a:xfrm>
            <a:off x="5962650" y="4467225"/>
            <a:ext cx="200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B2788C-B2F9-499A-807C-53C7CFFE6EF1}"/>
              </a:ext>
            </a:extLst>
          </p:cNvPr>
          <p:cNvSpPr>
            <a:spLocks noGrp="1"/>
          </p:cNvSpPr>
          <p:nvPr/>
        </p:nvSpPr>
        <p:spPr>
          <a:xfrm>
            <a:off x="3143250" y="4467225"/>
            <a:ext cx="200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E8CA3011-E9A9-43AD-849E-0F929A85FD4C}"/>
              </a:ext>
            </a:extLst>
          </p:cNvPr>
          <p:cNvSpPr>
            <a:spLocks noGrp="1"/>
          </p:cNvSpPr>
          <p:nvPr/>
        </p:nvSpPr>
        <p:spPr>
          <a:xfrm>
            <a:off x="10315575" y="2800350"/>
            <a:ext cx="0" cy="619125"/>
          </a:xfrm>
          <a:prstGeom prst="line">
            <a:avLst/>
          </a:prstGeom>
          <a:noFill/>
          <a:ln w="19050">
            <a:solidFill>
              <a:srgbClr val="2C638C"/>
            </a:solidFill>
            <a:prstDash val="solid"/>
          </a:ln>
        </p:spPr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4651158C-07FC-452A-B587-008BA8AF0867}"/>
              </a:ext>
            </a:extLst>
          </p:cNvPr>
          <p:cNvSpPr>
            <a:spLocks noGrp="1"/>
          </p:cNvSpPr>
          <p:nvPr/>
        </p:nvSpPr>
        <p:spPr>
          <a:xfrm>
            <a:off x="7496175" y="3419475"/>
            <a:ext cx="2819400" cy="0"/>
          </a:xfrm>
          <a:prstGeom prst="line">
            <a:avLst/>
          </a:prstGeom>
          <a:noFill/>
          <a:ln w="19050">
            <a:solidFill>
              <a:srgbClr val="2C638C"/>
            </a:solidFill>
            <a:prstDash val="solid"/>
          </a:ln>
        </p:spPr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DA25B9F0-39B5-4E79-8206-0D43E0FE3AB2}"/>
              </a:ext>
            </a:extLst>
          </p:cNvPr>
          <p:cNvSpPr>
            <a:spLocks noGrp="1"/>
          </p:cNvSpPr>
          <p:nvPr/>
        </p:nvSpPr>
        <p:spPr>
          <a:xfrm>
            <a:off x="7496175" y="3419475"/>
            <a:ext cx="0" cy="495300"/>
          </a:xfrm>
          <a:prstGeom prst="line">
            <a:avLst/>
          </a:prstGeom>
          <a:noFill/>
          <a:ln w="19050">
            <a:solidFill>
              <a:srgbClr val="2C638C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0DB4DF-B4EE-4860-A041-AEF504690EF3}"/>
              </a:ext>
            </a:extLst>
          </p:cNvPr>
          <p:cNvSpPr>
            <a:spLocks noGrp="1"/>
          </p:cNvSpPr>
          <p:nvPr/>
        </p:nvSpPr>
        <p:spPr>
          <a:xfrm>
            <a:off x="7372350" y="3848100"/>
            <a:ext cx="247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7043091-E055-4CA2-B577-E09E23D46485}"/>
              </a:ext>
            </a:extLst>
          </p:cNvPr>
          <p:cNvSpPr>
            <a:spLocks noGrp="1"/>
          </p:cNvSpPr>
          <p:nvPr/>
        </p:nvSpPr>
        <p:spPr>
          <a:xfrm>
            <a:off x="7991475" y="315277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27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index lookup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D6693B4-2ECF-4721-9B70-C3855ABE3BB8}"/>
              </a:ext>
            </a:extLst>
          </p:cNvPr>
          <p:cNvSpPr>
            <a:spLocks noGrp="1"/>
          </p:cNvSpPr>
          <p:nvPr/>
        </p:nvSpPr>
        <p:spPr>
          <a:xfrm>
            <a:off x="552450" y="5619750"/>
            <a:ext cx="11068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26373"/>
                </a:solidFill>
                <a:latin typeface="Arial"/>
                <a:ea typeface="Arial"/>
                <a:cs typeface="Arial"/>
              </a:rPr>
              <a:t>Preprocessing and indexing happen before a query; matching retrieves candidates from the stored index.</a:t>
            </a:r>
          </a:p>
        </p:txBody>
      </p:sp>
    </p:spTree>
    <p:extLst>
      <p:ext uri="{BB962C8B-B14F-4D97-AF65-F5344CB8AC3E}">
        <p14:creationId xmlns:p14="http://schemas.microsoft.com/office/powerpoint/2010/main" val="706781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404DC27-3A28-45BA-BC29-730093F82C80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10668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Core Algorithms &amp; Technology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A8F07758-4F3D-4DC8-8984-19DAE94D4008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noFill/>
          <a:ln w="19050">
            <a:solidFill>
              <a:srgbClr val="2C638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DE71F9-DE6A-4D15-9F4D-ED5A872046E2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47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050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AD3040-9825-4E4F-B597-B66CA904F13C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733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Core search algorithms / data structures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370464-80BE-47CA-ADD6-96262FE3141F}"/>
              </a:ext>
            </a:extLst>
          </p:cNvPr>
          <p:cNvSpPr>
            <a:spLocks noGrp="1"/>
          </p:cNvSpPr>
          <p:nvPr/>
        </p:nvSpPr>
        <p:spPr>
          <a:xfrm>
            <a:off x="552450" y="1857375"/>
            <a:ext cx="3486150" cy="12192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1CAE8E-1D30-42D2-AFDA-D3B13D83A874}"/>
              </a:ext>
            </a:extLst>
          </p:cNvPr>
          <p:cNvSpPr>
            <a:spLocks noGrp="1"/>
          </p:cNvSpPr>
          <p:nvPr/>
        </p:nvSpPr>
        <p:spPr>
          <a:xfrm>
            <a:off x="723900" y="1990725"/>
            <a:ext cx="3143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Text preprocessing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45FC5A-8624-4A90-8032-D46AA95B288E}"/>
              </a:ext>
            </a:extLst>
          </p:cNvPr>
          <p:cNvSpPr>
            <a:spLocks noGrp="1"/>
          </p:cNvSpPr>
          <p:nvPr/>
        </p:nvSpPr>
        <p:spPr>
          <a:xfrm>
            <a:off x="723900" y="233362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Tokenization; normalization and filtering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CAB298-25BE-42A2-8B64-32982FDC5B3A}"/>
              </a:ext>
            </a:extLst>
          </p:cNvPr>
          <p:cNvSpPr>
            <a:spLocks noGrp="1"/>
          </p:cNvSpPr>
          <p:nvPr/>
        </p:nvSpPr>
        <p:spPr>
          <a:xfrm>
            <a:off x="4191000" y="1857375"/>
            <a:ext cx="3486150" cy="12192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AB742-ABFE-4150-936B-4E1C1D2A39F9}"/>
              </a:ext>
            </a:extLst>
          </p:cNvPr>
          <p:cNvSpPr>
            <a:spLocks noGrp="1"/>
          </p:cNvSpPr>
          <p:nvPr/>
        </p:nvSpPr>
        <p:spPr>
          <a:xfrm>
            <a:off x="4362450" y="1990725"/>
            <a:ext cx="3143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Inverted index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89C84D-1770-4446-9620-B114A3E72D72}"/>
              </a:ext>
            </a:extLst>
          </p:cNvPr>
          <p:cNvSpPr>
            <a:spLocks noGrp="1"/>
          </p:cNvSpPr>
          <p:nvPr/>
        </p:nvSpPr>
        <p:spPr>
          <a:xfrm>
            <a:off x="4362450" y="233362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Map terms to documents containing them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A5B578F-DA80-41C1-AFF1-D28C0E751883}"/>
              </a:ext>
            </a:extLst>
          </p:cNvPr>
          <p:cNvSpPr>
            <a:spLocks noGrp="1"/>
          </p:cNvSpPr>
          <p:nvPr/>
        </p:nvSpPr>
        <p:spPr>
          <a:xfrm>
            <a:off x="552450" y="3248025"/>
            <a:ext cx="3486150" cy="1219200"/>
          </a:xfrm>
          <a:prstGeom prst="roundRect">
            <a:avLst>
              <a:gd name="adj" fmla="val 7031"/>
            </a:avLst>
          </a:prstGeom>
          <a:solidFill>
            <a:srgbClr val="EDF5F8"/>
          </a:solidFill>
          <a:ln w="11430">
            <a:solidFill>
              <a:srgbClr val="C8E0E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E2E10-ADCD-470F-A81B-8DBFDB2A41C7}"/>
              </a:ext>
            </a:extLst>
          </p:cNvPr>
          <p:cNvSpPr>
            <a:spLocks noGrp="1"/>
          </p:cNvSpPr>
          <p:nvPr/>
        </p:nvSpPr>
        <p:spPr>
          <a:xfrm>
            <a:off x="723900" y="3381375"/>
            <a:ext cx="3143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Positional index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36B361-66A4-4AB3-83D2-F93D86D8ED53}"/>
              </a:ext>
            </a:extLst>
          </p:cNvPr>
          <p:cNvSpPr>
            <a:spLocks noGrp="1"/>
          </p:cNvSpPr>
          <p:nvPr/>
        </p:nvSpPr>
        <p:spPr>
          <a:xfrm>
            <a:off x="723900" y="372427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Store positions for phrase-aware retrieval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3373DDB-6B95-4AF0-95DA-34C8A8C26C30}"/>
              </a:ext>
            </a:extLst>
          </p:cNvPr>
          <p:cNvSpPr>
            <a:spLocks noGrp="1"/>
          </p:cNvSpPr>
          <p:nvPr/>
        </p:nvSpPr>
        <p:spPr>
          <a:xfrm>
            <a:off x="4191000" y="3248025"/>
            <a:ext cx="3486150" cy="1219200"/>
          </a:xfrm>
          <a:prstGeom prst="roundRect">
            <a:avLst>
              <a:gd name="adj" fmla="val 7031"/>
            </a:avLst>
          </a:prstGeom>
          <a:solidFill>
            <a:srgbClr val="EDF5F8"/>
          </a:solidFill>
          <a:ln w="11430">
            <a:solidFill>
              <a:srgbClr val="C8E0E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7568DE-0E4A-42D1-BD85-D031D2A6DE48}"/>
              </a:ext>
            </a:extLst>
          </p:cNvPr>
          <p:cNvSpPr>
            <a:spLocks noGrp="1"/>
          </p:cNvSpPr>
          <p:nvPr/>
        </p:nvSpPr>
        <p:spPr>
          <a:xfrm>
            <a:off x="4362450" y="3381375"/>
            <a:ext cx="3143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Query 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29419B-1D29-4315-B2D6-528A8AB8062E}"/>
              </a:ext>
            </a:extLst>
          </p:cNvPr>
          <p:cNvSpPr>
            <a:spLocks noGrp="1"/>
          </p:cNvSpPr>
          <p:nvPr/>
        </p:nvSpPr>
        <p:spPr>
          <a:xfrm>
            <a:off x="4362450" y="372427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Keyword, multi-word, phrase and logical queries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CF4830E-76D8-493A-BA00-7E0B373FA313}"/>
              </a:ext>
            </a:extLst>
          </p:cNvPr>
          <p:cNvSpPr>
            <a:spLocks noGrp="1"/>
          </p:cNvSpPr>
          <p:nvPr/>
        </p:nvSpPr>
        <p:spPr>
          <a:xfrm>
            <a:off x="552450" y="4638675"/>
            <a:ext cx="3486150" cy="12192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50F806-6EF0-4DE3-8C93-C19CD4D3756B}"/>
              </a:ext>
            </a:extLst>
          </p:cNvPr>
          <p:cNvSpPr>
            <a:spLocks noGrp="1"/>
          </p:cNvSpPr>
          <p:nvPr/>
        </p:nvSpPr>
        <p:spPr>
          <a:xfrm>
            <a:off x="723900" y="4772025"/>
            <a:ext cx="3143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TF-IDF ranking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AFB1D1-2695-46B3-A444-6DE7E3489881}"/>
              </a:ext>
            </a:extLst>
          </p:cNvPr>
          <p:cNvSpPr>
            <a:spLocks noGrp="1"/>
          </p:cNvSpPr>
          <p:nvPr/>
        </p:nvSpPr>
        <p:spPr>
          <a:xfrm>
            <a:off x="723900" y="511492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Score the relevance of matched documents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3EBECB7-13FE-4576-B87D-B3281CE92377}"/>
              </a:ext>
            </a:extLst>
          </p:cNvPr>
          <p:cNvSpPr>
            <a:spLocks noGrp="1"/>
          </p:cNvSpPr>
          <p:nvPr/>
        </p:nvSpPr>
        <p:spPr>
          <a:xfrm>
            <a:off x="4191000" y="4638675"/>
            <a:ext cx="3486150" cy="1219200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7394C1-2EAD-42CD-AB51-9FD321BBDCAC}"/>
              </a:ext>
            </a:extLst>
          </p:cNvPr>
          <p:cNvSpPr>
            <a:spLocks noGrp="1"/>
          </p:cNvSpPr>
          <p:nvPr/>
        </p:nvSpPr>
        <p:spPr>
          <a:xfrm>
            <a:off x="4362450" y="4772025"/>
            <a:ext cx="3143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Top-K selection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D2209E-0F61-4346-90B1-AB08D8F06DC2}"/>
              </a:ext>
            </a:extLst>
          </p:cNvPr>
          <p:cNvSpPr>
            <a:spLocks noGrp="1"/>
          </p:cNvSpPr>
          <p:nvPr/>
        </p:nvSpPr>
        <p:spPr>
          <a:xfrm>
            <a:off x="4362450" y="511492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Return the highest-ranked results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3EB959-29CC-48DC-88B2-8D4F48EBF977}"/>
              </a:ext>
            </a:extLst>
          </p:cNvPr>
          <p:cNvSpPr>
            <a:spLocks noGrp="1"/>
          </p:cNvSpPr>
          <p:nvPr/>
        </p:nvSpPr>
        <p:spPr>
          <a:xfrm>
            <a:off x="8020050" y="138112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Technology / tools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E91BCB4-6EDD-4AF4-B4C3-EE6C22F4AC52}"/>
              </a:ext>
            </a:extLst>
          </p:cNvPr>
          <p:cNvSpPr>
            <a:spLocks noGrp="1"/>
          </p:cNvSpPr>
          <p:nvPr/>
        </p:nvSpPr>
        <p:spPr>
          <a:xfrm>
            <a:off x="8020050" y="1857375"/>
            <a:ext cx="3600450" cy="1847850"/>
          </a:xfrm>
          <a:prstGeom prst="roundRect">
            <a:avLst>
              <a:gd name="adj" fmla="val 4639"/>
            </a:avLst>
          </a:prstGeom>
          <a:solidFill>
            <a:srgbClr val="EDF5F8"/>
          </a:solidFill>
          <a:ln w="11430">
            <a:solidFill>
              <a:srgbClr val="C8E0E9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CF0946-97B2-4A6D-BC04-AFFB159E93D7}"/>
              </a:ext>
            </a:extLst>
          </p:cNvPr>
          <p:cNvSpPr>
            <a:spLocks noGrp="1"/>
          </p:cNvSpPr>
          <p:nvPr/>
        </p:nvSpPr>
        <p:spPr>
          <a:xfrm>
            <a:off x="8210550" y="2028825"/>
            <a:ext cx="32194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Java  •  Java File I/O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6008C068-DEB4-4A16-B7C4-4DB213D8E04A}"/>
              </a:ext>
            </a:extLst>
          </p:cNvPr>
          <p:cNvSpPr>
            <a:spLocks noGrp="1"/>
          </p:cNvSpPr>
          <p:nvPr/>
        </p:nvSpPr>
        <p:spPr>
          <a:xfrm>
            <a:off x="8210550" y="2505075"/>
            <a:ext cx="3219450" cy="0"/>
          </a:xfrm>
          <a:prstGeom prst="line">
            <a:avLst/>
          </a:prstGeom>
          <a:noFill/>
          <a:ln w="10478">
            <a:solidFill>
              <a:srgbClr val="AFC4D3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BFB0F9-26E5-4890-BE5F-D2F77125273D}"/>
              </a:ext>
            </a:extLst>
          </p:cNvPr>
          <p:cNvSpPr>
            <a:spLocks noGrp="1"/>
          </p:cNvSpPr>
          <p:nvPr/>
        </p:nvSpPr>
        <p:spPr>
          <a:xfrm>
            <a:off x="8210550" y="2609850"/>
            <a:ext cx="3219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36"/>
                </a:solidFill>
                <a:latin typeface="Arial"/>
                <a:ea typeface="Arial"/>
                <a:cs typeface="Arial"/>
              </a:rPr>
              <a:t>IntelliJ IDEA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E02CF0-F315-497B-93BC-508AC975B9A7}"/>
              </a:ext>
            </a:extLst>
          </p:cNvPr>
          <p:cNvSpPr>
            <a:spLocks noGrp="1"/>
          </p:cNvSpPr>
          <p:nvPr/>
        </p:nvSpPr>
        <p:spPr>
          <a:xfrm>
            <a:off x="8210550" y="3067050"/>
            <a:ext cx="3219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1D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D2B36"/>
                </a:solidFill>
                <a:latin typeface="Arial"/>
                <a:ea typeface="Arial"/>
                <a:cs typeface="Arial"/>
              </a:rPr>
              <a:t>Git  •  GitHub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70AEE0-93E2-489C-A9EC-6C13B998252A}"/>
              </a:ext>
            </a:extLst>
          </p:cNvPr>
          <p:cNvSpPr>
            <a:spLocks noGrp="1"/>
          </p:cNvSpPr>
          <p:nvPr/>
        </p:nvSpPr>
        <p:spPr>
          <a:xfrm>
            <a:off x="8020050" y="3905250"/>
            <a:ext cx="3600450" cy="2124075"/>
          </a:xfrm>
          <a:prstGeom prst="roundRect">
            <a:avLst>
              <a:gd name="adj" fmla="val 4036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1256C0-8D78-4638-8281-2EF57592085D}"/>
              </a:ext>
            </a:extLst>
          </p:cNvPr>
          <p:cNvSpPr>
            <a:spLocks noGrp="1"/>
          </p:cNvSpPr>
          <p:nvPr/>
        </p:nvSpPr>
        <p:spPr>
          <a:xfrm>
            <a:off x="8020050" y="3905250"/>
            <a:ext cx="66675" cy="2124075"/>
          </a:xfrm>
          <a:prstGeom prst="rect">
            <a:avLst/>
          </a:prstGeom>
          <a:solidFill>
            <a:srgbClr val="2C638C"/>
          </a:solidFill>
          <a:ln w="11430">
            <a:solidFill>
              <a:srgbClr val="2C638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F8B2A4-AA5F-4DBC-8378-7B87B5284064}"/>
              </a:ext>
            </a:extLst>
          </p:cNvPr>
          <p:cNvSpPr>
            <a:spLocks noGrp="1"/>
          </p:cNvSpPr>
          <p:nvPr/>
        </p:nvSpPr>
        <p:spPr>
          <a:xfrm>
            <a:off x="8229600" y="4105275"/>
            <a:ext cx="315277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Core information-retrieval algorithms and data structures will be implemented manually.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7CBF5B-0BC2-4572-BB68-22E739573427}"/>
              </a:ext>
            </a:extLst>
          </p:cNvPr>
          <p:cNvSpPr>
            <a:spLocks noGrp="1"/>
          </p:cNvSpPr>
          <p:nvPr/>
        </p:nvSpPr>
        <p:spPr>
          <a:xfrm>
            <a:off x="8229600" y="5257800"/>
            <a:ext cx="31527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No Lucene, Elasticsearch or Solr for the search-engine core.</a:t>
            </a:r>
          </a:p>
        </p:txBody>
      </p:sp>
    </p:spTree>
    <p:extLst>
      <p:ext uri="{BB962C8B-B14F-4D97-AF65-F5344CB8AC3E}">
        <p14:creationId xmlns:p14="http://schemas.microsoft.com/office/powerpoint/2010/main" val="1942033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68C8721-6D1C-47BF-A855-447A01D41875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10668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From Implementation to Final Outcome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D657ADE-3F5D-4BB3-AD66-DE6F376174FB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1087100" cy="0"/>
          </a:xfrm>
          <a:prstGeom prst="line">
            <a:avLst/>
          </a:prstGeom>
          <a:noFill/>
          <a:ln w="19050">
            <a:solidFill>
              <a:srgbClr val="2C638C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8B1FCE-E358-4E46-96B2-11B399910993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47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050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324DF-4902-40D1-AAF8-DAA6450A2E8D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Logical build order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0FA8C0-8BC4-41E2-8F66-A833C7EB81B8}"/>
              </a:ext>
            </a:extLst>
          </p:cNvPr>
          <p:cNvSpPr>
            <a:spLocks noGrp="1"/>
          </p:cNvSpPr>
          <p:nvPr/>
        </p:nvSpPr>
        <p:spPr>
          <a:xfrm>
            <a:off x="552450" y="1771650"/>
            <a:ext cx="3505200" cy="752475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3CD06D-4445-4A57-88FE-2ABBB5182DF5}"/>
              </a:ext>
            </a:extLst>
          </p:cNvPr>
          <p:cNvSpPr>
            <a:spLocks noGrp="1"/>
          </p:cNvSpPr>
          <p:nvPr/>
        </p:nvSpPr>
        <p:spPr>
          <a:xfrm>
            <a:off x="676275" y="1914525"/>
            <a:ext cx="4000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99F453-2DF1-4636-8086-2BB842FDBAFF}"/>
              </a:ext>
            </a:extLst>
          </p:cNvPr>
          <p:cNvSpPr>
            <a:spLocks noGrp="1"/>
          </p:cNvSpPr>
          <p:nvPr/>
        </p:nvSpPr>
        <p:spPr>
          <a:xfrm>
            <a:off x="1114425" y="1885950"/>
            <a:ext cx="28194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Document collection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3542EC-30A6-4FB2-B62B-531EF42175F4}"/>
              </a:ext>
            </a:extLst>
          </p:cNvPr>
          <p:cNvSpPr>
            <a:spLocks noGrp="1"/>
          </p:cNvSpPr>
          <p:nvPr/>
        </p:nvSpPr>
        <p:spPr>
          <a:xfrm>
            <a:off x="4333875" y="1771650"/>
            <a:ext cx="3505200" cy="752475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1F7D2F-BB4B-4940-987D-A54447F2FAE4}"/>
              </a:ext>
            </a:extLst>
          </p:cNvPr>
          <p:cNvSpPr>
            <a:spLocks noGrp="1"/>
          </p:cNvSpPr>
          <p:nvPr/>
        </p:nvSpPr>
        <p:spPr>
          <a:xfrm>
            <a:off x="4457700" y="1914525"/>
            <a:ext cx="4000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8DF9BA-2F83-426E-9F61-F7FC25470192}"/>
              </a:ext>
            </a:extLst>
          </p:cNvPr>
          <p:cNvSpPr>
            <a:spLocks noGrp="1"/>
          </p:cNvSpPr>
          <p:nvPr/>
        </p:nvSpPr>
        <p:spPr>
          <a:xfrm>
            <a:off x="4895850" y="1885950"/>
            <a:ext cx="28194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Extraction / preprocessing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C60E7C-C275-49DB-B2B0-D52905AB47CC}"/>
              </a:ext>
            </a:extLst>
          </p:cNvPr>
          <p:cNvSpPr>
            <a:spLocks noGrp="1"/>
          </p:cNvSpPr>
          <p:nvPr/>
        </p:nvSpPr>
        <p:spPr>
          <a:xfrm>
            <a:off x="8115300" y="1771650"/>
            <a:ext cx="3505200" cy="752475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2922D6-AD4E-4AF3-8AD5-BA5B6D1841ED}"/>
              </a:ext>
            </a:extLst>
          </p:cNvPr>
          <p:cNvSpPr>
            <a:spLocks noGrp="1"/>
          </p:cNvSpPr>
          <p:nvPr/>
        </p:nvSpPr>
        <p:spPr>
          <a:xfrm>
            <a:off x="8239125" y="1914525"/>
            <a:ext cx="4000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068D0C-5C1B-45A4-980B-677B4CDABA7C}"/>
              </a:ext>
            </a:extLst>
          </p:cNvPr>
          <p:cNvSpPr>
            <a:spLocks noGrp="1"/>
          </p:cNvSpPr>
          <p:nvPr/>
        </p:nvSpPr>
        <p:spPr>
          <a:xfrm>
            <a:off x="8677275" y="1885950"/>
            <a:ext cx="28194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Index construction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EAB39A-097A-4DE1-AF0A-4A0EB936ED7F}"/>
              </a:ext>
            </a:extLst>
          </p:cNvPr>
          <p:cNvSpPr>
            <a:spLocks noGrp="1"/>
          </p:cNvSpPr>
          <p:nvPr/>
        </p:nvSpPr>
        <p:spPr>
          <a:xfrm>
            <a:off x="8115300" y="2781300"/>
            <a:ext cx="3505200" cy="752475"/>
          </a:xfrm>
          <a:prstGeom prst="roundRect">
            <a:avLst>
              <a:gd name="adj" fmla="val 10127"/>
            </a:avLst>
          </a:prstGeom>
          <a:solidFill>
            <a:srgbClr val="EDF5F8"/>
          </a:solidFill>
          <a:ln w="11430">
            <a:solidFill>
              <a:srgbClr val="C8E0E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C489C3-CF02-489B-B592-C4221A7BD0F7}"/>
              </a:ext>
            </a:extLst>
          </p:cNvPr>
          <p:cNvSpPr>
            <a:spLocks noGrp="1"/>
          </p:cNvSpPr>
          <p:nvPr/>
        </p:nvSpPr>
        <p:spPr>
          <a:xfrm>
            <a:off x="8239125" y="2924175"/>
            <a:ext cx="4000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470D62-482C-4F0E-A912-ED0B31FDAF83}"/>
              </a:ext>
            </a:extLst>
          </p:cNvPr>
          <p:cNvSpPr>
            <a:spLocks noGrp="1"/>
          </p:cNvSpPr>
          <p:nvPr/>
        </p:nvSpPr>
        <p:spPr>
          <a:xfrm>
            <a:off x="8677275" y="2895600"/>
            <a:ext cx="28194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Query processing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77FA0BC-60D1-4E69-AF46-08AF8EF47BE9}"/>
              </a:ext>
            </a:extLst>
          </p:cNvPr>
          <p:cNvSpPr>
            <a:spLocks noGrp="1"/>
          </p:cNvSpPr>
          <p:nvPr/>
        </p:nvSpPr>
        <p:spPr>
          <a:xfrm>
            <a:off x="4333875" y="2781300"/>
            <a:ext cx="3505200" cy="752475"/>
          </a:xfrm>
          <a:prstGeom prst="roundRect">
            <a:avLst>
              <a:gd name="adj" fmla="val 10127"/>
            </a:avLst>
          </a:prstGeom>
          <a:solidFill>
            <a:srgbClr val="EDF5F8"/>
          </a:solidFill>
          <a:ln w="11430">
            <a:solidFill>
              <a:srgbClr val="C8E0E9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31B990-DD13-4CC2-A98A-F31352CC5B71}"/>
              </a:ext>
            </a:extLst>
          </p:cNvPr>
          <p:cNvSpPr>
            <a:spLocks noGrp="1"/>
          </p:cNvSpPr>
          <p:nvPr/>
        </p:nvSpPr>
        <p:spPr>
          <a:xfrm>
            <a:off x="4457700" y="2924175"/>
            <a:ext cx="4000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9CBBA6-10DB-4CB7-AE50-456F30BEDFCD}"/>
              </a:ext>
            </a:extLst>
          </p:cNvPr>
          <p:cNvSpPr>
            <a:spLocks noGrp="1"/>
          </p:cNvSpPr>
          <p:nvPr/>
        </p:nvSpPr>
        <p:spPr>
          <a:xfrm>
            <a:off x="4895850" y="2895600"/>
            <a:ext cx="28194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Ranking / result generation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2787581-5AD6-48B9-970C-E057E69A0A10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3505200" cy="752475"/>
          </a:xfrm>
          <a:prstGeom prst="roundRect">
            <a:avLst>
              <a:gd name="adj" fmla="val 10127"/>
            </a:avLst>
          </a:prstGeom>
          <a:solidFill>
            <a:srgbClr val="EDF5F8"/>
          </a:solidFill>
          <a:ln w="11430">
            <a:solidFill>
              <a:srgbClr val="C8E0E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26E365-BED0-464C-8687-43E7CFBDA391}"/>
              </a:ext>
            </a:extLst>
          </p:cNvPr>
          <p:cNvSpPr>
            <a:spLocks noGrp="1"/>
          </p:cNvSpPr>
          <p:nvPr/>
        </p:nvSpPr>
        <p:spPr>
          <a:xfrm>
            <a:off x="676275" y="2924175"/>
            <a:ext cx="4000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05B49C-D2F0-444D-A50D-82B3D58C5E67}"/>
              </a:ext>
            </a:extLst>
          </p:cNvPr>
          <p:cNvSpPr>
            <a:spLocks noGrp="1"/>
          </p:cNvSpPr>
          <p:nvPr/>
        </p:nvSpPr>
        <p:spPr>
          <a:xfrm>
            <a:off x="1114425" y="2895600"/>
            <a:ext cx="28194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EFC6F8-8B60-44B0-BBD4-63BED5A13C00}"/>
              </a:ext>
            </a:extLst>
          </p:cNvPr>
          <p:cNvSpPr>
            <a:spLocks noGrp="1"/>
          </p:cNvSpPr>
          <p:nvPr/>
        </p:nvSpPr>
        <p:spPr>
          <a:xfrm>
            <a:off x="4076700" y="1933575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1D7DB6-8E31-4D39-BE85-BE9827CA063E}"/>
              </a:ext>
            </a:extLst>
          </p:cNvPr>
          <p:cNvSpPr>
            <a:spLocks noGrp="1"/>
          </p:cNvSpPr>
          <p:nvPr/>
        </p:nvSpPr>
        <p:spPr>
          <a:xfrm>
            <a:off x="7858125" y="1933575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F07BAF-1CF0-4C2E-BE18-BA9E0AA8555D}"/>
              </a:ext>
            </a:extLst>
          </p:cNvPr>
          <p:cNvSpPr>
            <a:spLocks noGrp="1"/>
          </p:cNvSpPr>
          <p:nvPr/>
        </p:nvSpPr>
        <p:spPr>
          <a:xfrm>
            <a:off x="4076700" y="2943225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EB96E7-D8E1-4119-BFA7-BEFFA8722933}"/>
              </a:ext>
            </a:extLst>
          </p:cNvPr>
          <p:cNvSpPr>
            <a:spLocks noGrp="1"/>
          </p:cNvSpPr>
          <p:nvPr/>
        </p:nvSpPr>
        <p:spPr>
          <a:xfrm>
            <a:off x="7858125" y="2943225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2025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F2D3B7-65B0-410F-82E6-3907671D4B8C}"/>
              </a:ext>
            </a:extLst>
          </p:cNvPr>
          <p:cNvSpPr>
            <a:spLocks noGrp="1"/>
          </p:cNvSpPr>
          <p:nvPr/>
        </p:nvSpPr>
        <p:spPr>
          <a:xfrm>
            <a:off x="9744075" y="2476500"/>
            <a:ext cx="2571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800" b="0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C63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8C3390-CEF9-4CA6-973D-C3D6A60421E3}"/>
              </a:ext>
            </a:extLst>
          </p:cNvPr>
          <p:cNvSpPr>
            <a:spLocks noGrp="1"/>
          </p:cNvSpPr>
          <p:nvPr/>
        </p:nvSpPr>
        <p:spPr>
          <a:xfrm>
            <a:off x="552450" y="38100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Expected outcome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B906D80-16D0-4303-9FCE-88227B977DD3}"/>
              </a:ext>
            </a:extLst>
          </p:cNvPr>
          <p:cNvSpPr>
            <a:spLocks noGrp="1"/>
          </p:cNvSpPr>
          <p:nvPr/>
        </p:nvSpPr>
        <p:spPr>
          <a:xfrm>
            <a:off x="552450" y="4238625"/>
            <a:ext cx="5962650" cy="523875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42DDFE-CBCB-44F8-AD55-5A0F2C632765}"/>
              </a:ext>
            </a:extLst>
          </p:cNvPr>
          <p:cNvSpPr>
            <a:spLocks noGrp="1"/>
          </p:cNvSpPr>
          <p:nvPr/>
        </p:nvSpPr>
        <p:spPr>
          <a:xfrm>
            <a:off x="723900" y="4276725"/>
            <a:ext cx="2095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Working IIT search engine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5BC312-AED3-4782-8A3A-10F2B4B50AD0}"/>
              </a:ext>
            </a:extLst>
          </p:cNvPr>
          <p:cNvSpPr>
            <a:spLocks noGrp="1"/>
          </p:cNvSpPr>
          <p:nvPr/>
        </p:nvSpPr>
        <p:spPr>
          <a:xfrm>
            <a:off x="2924175" y="4276725"/>
            <a:ext cx="33813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Search over an IIT-specific document corpus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373D816-02F2-4D82-BA52-FF443250833A}"/>
              </a:ext>
            </a:extLst>
          </p:cNvPr>
          <p:cNvSpPr>
            <a:spLocks noGrp="1"/>
          </p:cNvSpPr>
          <p:nvPr/>
        </p:nvSpPr>
        <p:spPr>
          <a:xfrm>
            <a:off x="552450" y="4791075"/>
            <a:ext cx="5962650" cy="619125"/>
          </a:xfrm>
          <a:prstGeom prst="roundRect">
            <a:avLst>
              <a:gd name="adj" fmla="val 5625"/>
            </a:avLst>
          </a:prstGeom>
          <a:solidFill>
            <a:srgbClr val="EDF5F8"/>
          </a:solidFill>
          <a:ln w="11430">
            <a:solidFill>
              <a:srgbClr val="C8E0E9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5AFCB9-3E54-4C11-B1B4-F50FD09C80DC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1847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Indexed retrieval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07409F-ED88-4A36-8C13-4DA03192DD1E}"/>
              </a:ext>
            </a:extLst>
          </p:cNvPr>
          <p:cNvSpPr>
            <a:spLocks noGrp="1"/>
          </p:cNvSpPr>
          <p:nvPr/>
        </p:nvSpPr>
        <p:spPr>
          <a:xfrm>
            <a:off x="2647950" y="4838700"/>
            <a:ext cx="3667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Search the stored index instead of scanning every file; return ranked Top-K results and snippets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A16B607-FC5C-4307-B253-8135218B18CC}"/>
              </a:ext>
            </a:extLst>
          </p:cNvPr>
          <p:cNvSpPr>
            <a:spLocks noGrp="1"/>
          </p:cNvSpPr>
          <p:nvPr/>
        </p:nvSpPr>
        <p:spPr>
          <a:xfrm>
            <a:off x="552450" y="5438775"/>
            <a:ext cx="5962650" cy="561975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E14E95-29C6-4275-A2C2-AEA5996939C6}"/>
              </a:ext>
            </a:extLst>
          </p:cNvPr>
          <p:cNvSpPr>
            <a:spLocks noGrp="1"/>
          </p:cNvSpPr>
          <p:nvPr/>
        </p:nvSpPr>
        <p:spPr>
          <a:xfrm>
            <a:off x="723900" y="5495925"/>
            <a:ext cx="20669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Measurable performance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64E7A1-AF64-4262-AC0E-43388C8106D6}"/>
              </a:ext>
            </a:extLst>
          </p:cNvPr>
          <p:cNvSpPr>
            <a:spLocks noGrp="1"/>
          </p:cNvSpPr>
          <p:nvPr/>
        </p:nvSpPr>
        <p:spPr>
          <a:xfrm>
            <a:off x="2867025" y="5486400"/>
            <a:ext cx="3448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73"/>
                </a:solidFill>
                <a:latin typeface="Arial"/>
                <a:ea typeface="Arial"/>
                <a:cs typeface="Arial"/>
              </a:rPr>
              <a:t>Indexing time, query time, index size and corpus statistics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746725-CC3F-4636-9B28-6A9DE47A41E3}"/>
              </a:ext>
            </a:extLst>
          </p:cNvPr>
          <p:cNvSpPr>
            <a:spLocks noGrp="1"/>
          </p:cNvSpPr>
          <p:nvPr/>
        </p:nvSpPr>
        <p:spPr>
          <a:xfrm>
            <a:off x="552450" y="6200775"/>
            <a:ext cx="1000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350" b="0">
                <a:solidFill>
                  <a:srgbClr val="52637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26373"/>
                </a:solidFill>
                <a:latin typeface="Arial"/>
                <a:ea typeface="Arial"/>
                <a:cs typeface="Arial"/>
              </a:rPr>
              <a:t>Evaluate: indexing time  •  query time  •  index size  •  corpus statistics</a:t>
            </a:r>
          </a:p>
        </p:txBody>
      </p:sp>
      <p:sp>
        <p:nvSpPr>
          <p:cNvPr id="41" name="Prototype screenshot border">
            <a:extLst>
              <a:ext uri="{FF2B5EF4-FFF2-40B4-BE49-F238E27FC236}">
                <a16:creationId xmlns:a16="http://schemas.microsoft.com/office/drawing/2014/main" id="{2B906D80-16D0-4303-9FCE-88227B977DD3}"/>
              </a:ext>
            </a:extLst>
          </p:cNvPr>
          <p:cNvSpPr>
            <a:spLocks noGrp="1"/>
          </p:cNvSpPr>
          <p:nvPr/>
        </p:nvSpPr>
        <p:spPr>
          <a:xfrm>
            <a:off x="6800850" y="4095750"/>
            <a:ext cx="4857750" cy="205740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1430">
            <a:solidFill>
              <a:srgbClr val="AFC4D3"/>
            </a:solidFill>
            <a:prstDash val="solid"/>
          </a:ln>
        </p:spPr>
      </p:sp>
      <p:pic>
        <p:nvPicPr>
          <p:cNvPr id="42" name="Authentic prototype software query screenshot" descr="Mini IIT Search Prototype v0.1 terminal query for software with ranked document scores"/>
          <p:cNvPicPr/>
          <p:nvPr/>
        </p:nvPicPr>
        <p:blipFill>
          <a:blip r:embed="rId3"/>
          <a:srcRect l="0" t="48323" r="4762" b="9073"/>
          <a:stretch>
            <a:fillRect/>
          </a:stretch>
        </p:blipFill>
        <p:spPr>
          <a:xfrm>
            <a:off x="6838950" y="4133850"/>
            <a:ext cx="4781550" cy="1981200"/>
          </a:xfrm>
          <a:prstGeom prst="rect">
            <a:avLst/>
          </a:prstGeom>
        </p:spPr>
      </p:pic>
      <p:sp>
        <p:nvSpPr>
          <p:cNvPr id="40" name="Prototype v0.1 heading">
            <a:extLst>
              <a:ext uri="{FF2B5EF4-FFF2-40B4-BE49-F238E27FC236}">
                <a16:creationId xmlns:a16="http://schemas.microsoft.com/office/drawing/2014/main" id="{F08C3390-CEF9-4CA6-973D-C3D6A60421E3}"/>
              </a:ext>
            </a:extLst>
          </p:cNvPr>
          <p:cNvSpPr>
            <a:spLocks noGrp="1"/>
          </p:cNvSpPr>
          <p:nvPr/>
        </p:nvSpPr>
        <p:spPr>
          <a:xfrm>
            <a:off x="6838950" y="3800475"/>
            <a:ext cx="4781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1">
                <a:solidFill>
                  <a:srgbClr val="2C63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38C"/>
                </a:solidFill>
                <a:latin typeface="Arial"/>
                <a:ea typeface="Arial"/>
                <a:cs typeface="Arial"/>
              </a:rPr>
              <a:t>Prototype v0.1 — Sample Search Run</a:t>
            </a:r>
          </a:p>
        </p:txBody>
      </p:sp>
    </p:spTree>
    <p:extLst>
      <p:ext uri="{BB962C8B-B14F-4D97-AF65-F5344CB8AC3E}">
        <p14:creationId xmlns:p14="http://schemas.microsoft.com/office/powerpoint/2010/main" val="1442315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Microsoft Office PowerPoint</Application>
  <DocSecurity>0</DocSecurity>
  <PresentationFormat>Widescreen</PresentationFormat>
  <Paragraphs>111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Rifat Al Maruf</cp:lastModifiedBy>
  <cp:revision>1</cp:revision>
  <dcterms:created xsi:type="dcterms:W3CDTF">2026-09-23T15:59:19Z</dcterms:created>
  <dcterms:modified xsi:type="dcterms:W3CDTF">2026-09-23T16:42:04Z</dcterms:modified>
</cp:coreProperties>
</file>